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  <p:embeddedFont>
      <p:font typeface="Merriweath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.fntdata"/><Relationship Id="rId12" Type="http://schemas.openxmlformats.org/officeDocument/2006/relationships/slide" Target="slides/slide7.xml"/><Relationship Id="rId34" Type="http://schemas.openxmlformats.org/officeDocument/2006/relationships/font" Target="fonts/Merriweather-regular.fntdata"/><Relationship Id="rId15" Type="http://schemas.openxmlformats.org/officeDocument/2006/relationships/slide" Target="slides/slide10.xml"/><Relationship Id="rId37" Type="http://schemas.openxmlformats.org/officeDocument/2006/relationships/font" Target="fonts/Merriweather-boldItalic.fntdata"/><Relationship Id="rId14" Type="http://schemas.openxmlformats.org/officeDocument/2006/relationships/slide" Target="slides/slide9.xml"/><Relationship Id="rId36" Type="http://schemas.openxmlformats.org/officeDocument/2006/relationships/font" Target="fonts/Merriweather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4a4f2312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4a4f2312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a4f2312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4a4f2312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4a4f2312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4a4f2312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4a4f2312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4a4f2312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4a4f2312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4a4f2312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4a4f2312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4a4f2312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4a4f2312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4a4f2312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4a4f2312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4a4f2312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4a4f2312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4a4f2312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4a4f2312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4a4f2312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4a4f2312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4a4f2312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4a4f2312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4a4f2312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4a4f2312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4a4f2312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4a4f2312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4a4f2312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4a4f2312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4a4f2312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989">
                <a:latin typeface="Merriweather"/>
                <a:ea typeface="Merriweather"/>
                <a:cs typeface="Merriweather"/>
                <a:sym typeface="Merriweather"/>
              </a:rPr>
              <a:t>Öğrenci Bilgi Sistemi</a:t>
            </a:r>
            <a:endParaRPr sz="3989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tr" sz="3878">
                <a:latin typeface="Merriweather"/>
                <a:ea typeface="Merriweather"/>
                <a:cs typeface="Merriweather"/>
                <a:sym typeface="Merriweather"/>
              </a:rPr>
              <a:t>Proje OBS</a:t>
            </a:r>
            <a:endParaRPr i="1" sz="3878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18950" y="2944375"/>
            <a:ext cx="8069700" cy="20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100"/>
              <a:t>Ara Sunum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Yazılım Mühendisliği - Nisan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/>
              <a:t>Yakup Çaktu · Muhammed Şerbetçioğlu · Yaşar Arda Yarayan · Z. Esat Saygın · Muhammed Barbin · </a:t>
            </a:r>
            <a:r>
              <a:rPr lang="tr" sz="1200"/>
              <a:t>Tahir Allahverdiyev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Proje Tanımı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1988200"/>
            <a:ext cx="7688700" cy="28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Öğrenci ve akademisyenler için akademik süreçleri dijitalleştiren web tabanlı bir bilgi sistemi.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Kapsa</a:t>
            </a:r>
            <a:r>
              <a:rPr lang="tr"/>
              <a:t>m: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Ders kayıt ve yönetimi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Not giriş ve takibi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Transkript üretimi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Kullanıcı Rolleri: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Öğrenci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Akademisyen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Admin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Neden Bu Proje?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Kullandığımız OBS sistemleri kullanımı zor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Modern bir alternatif geliştirmek istedik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Şu Ana Kadar Yaptıklarımız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Proje Özeti Dokümanı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Analiz Dokümanı (SRS)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Kullanılacak framework ve araçların seçimi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6" title="slayt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525" y="1491075"/>
            <a:ext cx="4873474" cy="3655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Gereksinimler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481200" y="1790400"/>
            <a:ext cx="4090800" cy="30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İşlevsel Gereksinimler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Rol Bazlı Yetkilendirme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Öğrenci işlevleri (ders kaydı, not görüntüleme, transkript)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Akademisyen işlevleri (not girişi, kayıt onaylama)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Yönetici işlevleri (kullanıcı ve ders yönetimi)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Veri İşleme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/>
              <a:t>Ortalama Hesaplama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/>
              <a:t>Harf Notu Belirleme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tr"/>
              <a:t>Öğrenci Numarası Üretim</a:t>
            </a:r>
            <a:endParaRPr/>
          </a:p>
        </p:txBody>
      </p:sp>
      <p:sp>
        <p:nvSpPr>
          <p:cNvPr id="113" name="Google Shape;113;p17"/>
          <p:cNvSpPr txBox="1"/>
          <p:nvPr>
            <p:ph idx="2" type="body"/>
          </p:nvPr>
        </p:nvSpPr>
        <p:spPr>
          <a:xfrm>
            <a:off x="4643600" y="1790400"/>
            <a:ext cx="4090800" cy="30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İşlevsel Olmayan Gereksinimler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Kimlik Doğrulama (JWT)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Şifre Güvenliği (Hash)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Responsive Arayüz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REST Standardı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Hata Yönetimi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Kullanım Durumu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/>
              <a:t>Use Case diyagramı:</a:t>
            </a:r>
            <a:endParaRPr/>
          </a:p>
        </p:txBody>
      </p:sp>
      <p:pic>
        <p:nvPicPr>
          <p:cNvPr id="120" name="Google Shape;120;p18" title="usec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050" y="723175"/>
            <a:ext cx="3163724" cy="4301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Sınıf Diyagramı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188150" y="1853850"/>
            <a:ext cx="3530100" cy="3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Ders:</a:t>
            </a:r>
            <a:r>
              <a:rPr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Müfredattaki bir dersin ad, kod ve kredi gibi değişmeyen bilgilerini içeren </a:t>
            </a:r>
            <a:r>
              <a:rPr b="1"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genel tanımdır</a:t>
            </a:r>
            <a:r>
              <a:rPr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(Ör: Yazılım Mühendisliği).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DonemDersi:</a:t>
            </a:r>
            <a:r>
              <a:rPr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Bir dersin belirli bir dönemde, belirli bir akademisyen tarafından açılmış </a:t>
            </a:r>
            <a:r>
              <a:rPr b="1"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aktif uygulamasıdır</a:t>
            </a:r>
            <a:r>
              <a:rPr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(Ör: 25-26 Bahar Yazılım Mühendisliği).</a:t>
            </a:r>
            <a:br>
              <a:rPr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DersKaydi:</a:t>
            </a:r>
            <a:r>
              <a:rPr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Öğrencinin o</a:t>
            </a:r>
            <a:r>
              <a:rPr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tr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DonemDersi’ndeki</a:t>
            </a:r>
            <a:r>
              <a:rPr lang="tr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notlarını (vize, final), ortalamasını ve onay durumunu takip eder.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9" title="class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250" y="549225"/>
            <a:ext cx="5425750" cy="45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Durum Diyagramı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tr"/>
              <a:t>Durum diyagramı örneği:</a:t>
            </a:r>
            <a:endParaRPr/>
          </a:p>
        </p:txBody>
      </p:sp>
      <p:pic>
        <p:nvPicPr>
          <p:cNvPr id="134" name="Google Shape;134;p20" title="duru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3122" y="1039800"/>
            <a:ext cx="2918149" cy="37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Aktivite Diyagramı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729450" y="2121850"/>
            <a:ext cx="3842400" cy="29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3650" y="475825"/>
            <a:ext cx="5625750" cy="466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Sıra Diyagramı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729450" y="2078875"/>
            <a:ext cx="3537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</a:t>
            </a:r>
            <a:r>
              <a:rPr lang="tr"/>
              <a:t>istem genelindeki tüm iş süreçleri, bu ardışıl diyagramlar aracılığıyla zaman eksenli olarak modellenmiştir. Her bir diyagram; aktörler, kontrol birimleri ve veri nesneleri arasındaki senkronizasyonu sağlayarak, karmaşık metot çağrılarının ve geri dönüş (return) mekanizmalarının projenin bütününde tutarlı bir hiyerarşiyle çalışmasını garanti eder.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2" title="sequence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075" y="2078875"/>
            <a:ext cx="3719900" cy="22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Kullanıcı Arayüzü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3" title="4.6.3 Öğrenci Paneli – Genel Bakış Ekranı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925" y="1853850"/>
            <a:ext cx="5081051" cy="31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Proje Düzeni ve Ekip Çalışması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Backend, Frontend, Veri tabanı gibi alanlarda görev ayrımı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Görevler Github </a:t>
            </a:r>
            <a:r>
              <a:rPr lang="tr"/>
              <a:t>Issues ile takip edilir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Her görev ayrı branch’te geliştirilir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PR açılır, review sonrası merge edilir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723300" y="128150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500"/>
              <a:t>Bu sunum görevi de bir </a:t>
            </a:r>
            <a:r>
              <a:rPr i="1" lang="tr" sz="1500"/>
              <a:t>issue </a:t>
            </a:r>
            <a:r>
              <a:rPr lang="tr" sz="1500"/>
              <a:t>olarak açıldı</a:t>
            </a:r>
            <a:endParaRPr sz="1100"/>
          </a:p>
        </p:txBody>
      </p:sp>
      <p:pic>
        <p:nvPicPr>
          <p:cNvPr id="167" name="Google Shape;167;p25" title="Ekran Görüntüsü 2026-04-05 21-19-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45926"/>
            <a:ext cx="8839198" cy="451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Karşılaştığımız Zorluklar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729450" y="2078875"/>
            <a:ext cx="7688700" cy="27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Teknik ve Tasarım Zorlukları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Akış Modelleme: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Ders kayıt gibi karmaşık süreçlerin UML standartlarında hatasız modellenmesi.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Diyagram Tutarlılığı: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Aktivite, Use Case ve Class diyagramları arasındaki mantıksal uyumun sağlanması.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Görsel Sadeleştirme: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Karmaşık sistem operasyonlarını okunabilir ve net bir yapıda sunma zorluğu.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Ekip ve Süreç Yönetimi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Ekip Çalışmasına Adaptasyon: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Görev dağılımı ve farklı çalışma disiplinlerinin senkronize edilmesi.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Kapsam Yönetimi: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Kullanıcı gereksinimlerini netleştirerek projenin teknik sınırlarını belirlemek.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Modüler Entegrasyon: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Bireysel hazırlanan parçaların genel sistem akışında hatasız birleştirilmesi.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latin typeface="Merriweather"/>
                <a:ea typeface="Merriweather"/>
                <a:cs typeface="Merriweather"/>
                <a:sym typeface="Merriweather"/>
              </a:rPr>
              <a:t>Bundan Sonraki Planımız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727650" y="20706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HTML/CSS mockup'larını React bileşenlerine dönüştürme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Django modellerini oluşturma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API endpoint'lerini yazma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Frontend-backend entegrasyonu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727800" y="1767575"/>
            <a:ext cx="7688400" cy="15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tr">
                <a:latin typeface="Merriweather"/>
                <a:ea typeface="Merriweather"/>
                <a:cs typeface="Merriweather"/>
                <a:sym typeface="Merriweather"/>
              </a:rPr>
              <a:t>Teşekkürler</a:t>
            </a:r>
            <a:endParaRPr i="1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